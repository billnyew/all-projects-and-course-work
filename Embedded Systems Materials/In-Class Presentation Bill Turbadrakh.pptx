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81"/>
  </p:normalViewPr>
  <p:slideViewPr>
    <p:cSldViewPr snapToGrid="0">
      <p:cViewPr varScale="1">
        <p:scale>
          <a:sx n="117" d="100"/>
          <a:sy n="117" d="100"/>
        </p:scale>
        <p:origin x="176" y="7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Welcome everyone. Today, I’ll be presenting a 2024 IEEE article on the design and development of a deep learning-aided vision guidance system for Autonomous Underwater Vehicles, or AUVs. The goal was to improve short-range underwater docking accuracy using real-time object detection.</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19eb56410704ea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19eb56410704ea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AUVs are vital for deep-sea mapping, inspections, and surveillance. However, their limited battery capacity restricts mission time. Docking stations help recharge them mid-mission. But docking in murky water is tough — this paper tackles that problem using vision and AI.</a:t>
            </a:r>
            <a:endParaRPr/>
          </a:p>
          <a:p>
            <a:pPr marL="0" lvl="0" indent="0" algn="l" rtl="0">
              <a:spcBef>
                <a:spcPts val="120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10211f78f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10211f78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research goal is to guide AUVs to dock precisely using onboard vision systems. Instead of relying on acoustic signals, this method uses image recognition powered by YOLOv5, a real-time object detection model.</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11050e4d0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11050e4d0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setup includes a lit docking station visible even in low-light water, a smart AUV with embedded processing power, and standard PID control logic to move toward the target.</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11050e4d0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11050e4d0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The deep learning model identifies the docking station and tracks it. YOLOv5 helps locate the object, HSV filters enhance the color contrast, and DeepSORT handles continuity in tracking even if visibility drops briefly.</a:t>
            </a:r>
            <a:endParaRPr/>
          </a:p>
          <a:p>
            <a:pPr marL="0" lvl="0" indent="0" algn="l" rtl="0">
              <a:spcBef>
                <a:spcPts val="120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11050e4d0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11050e4d0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Once the station is detected, the AUV calculates how far it is and in what direction it needs to move. It adjusts its position in the XY plane accordingly to line up with the docking entry.</a:t>
            </a:r>
            <a:endParaRPr/>
          </a:p>
          <a:p>
            <a:pPr marL="0" lvl="0" indent="0" algn="l" rtl="0">
              <a:spcBef>
                <a:spcPts val="120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11050e4d06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11050e4d0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The edge computer is powerful but still constrained. YOLOv5 was chosen over newer versions because of the balance between speed and performance, considering the AUV’s hardware limits.</a:t>
            </a:r>
            <a:endParaRPr/>
          </a:p>
          <a:p>
            <a:pPr marL="0" lvl="0" indent="0" algn="l" rtl="0">
              <a:spcBef>
                <a:spcPts val="120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11050e4d06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11050e4d0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The model was trained on a modest dataset with a good balance of water conditions. The high mAP score of 0.95 shows it reliably detects the docking station even in slightly murky conditions.</a:t>
            </a:r>
            <a:endParaRPr/>
          </a:p>
          <a:p>
            <a:pPr marL="0" lvl="0" indent="0" algn="l" rtl="0">
              <a:spcBef>
                <a:spcPts val="120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11050e4d06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11050e4d06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In good visibility, the system performs excellently. Even in murky water, it still detects the station most of the time, though at reduced range and accuracy.</a:t>
            </a:r>
            <a:endParaRPr/>
          </a:p>
          <a:p>
            <a:pPr marL="0" lvl="0" indent="0" algn="l" rtl="0">
              <a:spcBef>
                <a:spcPts val="120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11050e4d06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11050e4d06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This study shows vision-based short-range homing is viable with the right AI models and hardware. Future improvements could focus on reducing latency and improving detection under poor visibility conditions.</a:t>
            </a:r>
            <a:endParaRPr/>
          </a:p>
          <a:p>
            <a:pPr marL="0" lvl="0" indent="0" algn="l" rtl="0">
              <a:spcBef>
                <a:spcPts val="120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9eb56410704ea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19eb56410704ea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solidFill>
                  <a:schemeClr val="dk1"/>
                </a:solidFill>
              </a:rPr>
              <a:t>One possible direction might be combining this vision system with another sensor type, like sonar or electromagnetic sensors, for a hybrid approach. That way, even if visibility drops, the AUV still has a backup method for localization.  </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None/>
            </a:pPr>
            <a:r>
              <a:rPr lang="en">
                <a:solidFill>
                  <a:schemeClr val="dk1"/>
                </a:solidFill>
              </a:rPr>
              <a:t>I was thinking stereo vision or adding a depth camera might help. But that could also increase processing load, so we’d need to balance between hardware capability and tracking accuracy.           </a:t>
            </a:r>
            <a:endParaRPr>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0" y="0"/>
            <a:ext cx="9144000" cy="36267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55;p13"/>
          <p:cNvSpPr txBox="1">
            <a:spLocks noGrp="1"/>
          </p:cNvSpPr>
          <p:nvPr>
            <p:ph type="ctrTitle"/>
          </p:nvPr>
        </p:nvSpPr>
        <p:spPr>
          <a:xfrm>
            <a:off x="311700" y="1176750"/>
            <a:ext cx="8520600" cy="127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280">
                <a:solidFill>
                  <a:schemeClr val="lt1"/>
                </a:solidFill>
              </a:rPr>
              <a:t>Design and Development of Deep Learning-Aided Vision Guidance System for AUV Homing Applications </a:t>
            </a:r>
            <a:endParaRPr sz="3280">
              <a:solidFill>
                <a:schemeClr val="lt1"/>
              </a:solidFill>
            </a:endParaRPr>
          </a:p>
        </p:txBody>
      </p:sp>
      <p:sp>
        <p:nvSpPr>
          <p:cNvPr id="56" name="Google Shape;56;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lnSpc>
                <a:spcPct val="80000"/>
              </a:lnSpc>
              <a:spcBef>
                <a:spcPts val="0"/>
              </a:spcBef>
              <a:spcAft>
                <a:spcPts val="0"/>
              </a:spcAft>
              <a:buSzPts val="935"/>
              <a:buNone/>
            </a:pPr>
            <a:endParaRPr sz="1779">
              <a:solidFill>
                <a:schemeClr val="lt1"/>
              </a:solidFill>
            </a:endParaRPr>
          </a:p>
          <a:p>
            <a:pPr marL="0" lvl="0" indent="0" algn="ctr" rtl="0">
              <a:lnSpc>
                <a:spcPct val="80000"/>
              </a:lnSpc>
              <a:spcBef>
                <a:spcPts val="0"/>
              </a:spcBef>
              <a:spcAft>
                <a:spcPts val="0"/>
              </a:spcAft>
              <a:buSzPts val="935"/>
              <a:buNone/>
            </a:pPr>
            <a:r>
              <a:rPr lang="en" sz="1779">
                <a:solidFill>
                  <a:schemeClr val="lt1"/>
                </a:solidFill>
              </a:rPr>
              <a:t>Bill Turbadrakh</a:t>
            </a:r>
            <a:endParaRPr sz="1779">
              <a:solidFill>
                <a:schemeClr val="lt1"/>
              </a:solidFill>
            </a:endParaRPr>
          </a:p>
        </p:txBody>
      </p:sp>
      <p:pic>
        <p:nvPicPr>
          <p:cNvPr id="57" name="Google Shape;57;p13" title="Screenshot 2025-05-14 at 11.54.19 PM.png"/>
          <p:cNvPicPr preferRelativeResize="0"/>
          <p:nvPr/>
        </p:nvPicPr>
        <p:blipFill>
          <a:blip r:embed="rId3">
            <a:alphaModFix/>
          </a:blip>
          <a:stretch>
            <a:fillRect/>
          </a:stretch>
        </p:blipFill>
        <p:spPr>
          <a:xfrm>
            <a:off x="152400" y="3779125"/>
            <a:ext cx="8839197" cy="6287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63;p14"/>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Why This Matters</a:t>
            </a:r>
            <a:endParaRPr sz="4000">
              <a:solidFill>
                <a:schemeClr val="lt1"/>
              </a:solidFill>
            </a:endParaRPr>
          </a:p>
          <a:p>
            <a:pPr marL="0" lvl="0" indent="0" algn="l" rtl="0">
              <a:spcBef>
                <a:spcPts val="0"/>
              </a:spcBef>
              <a:spcAft>
                <a:spcPts val="0"/>
              </a:spcAft>
              <a:buNone/>
            </a:pPr>
            <a:endParaRPr sz="4000">
              <a:solidFill>
                <a:schemeClr val="lt1"/>
              </a:solidFill>
            </a:endParaRPr>
          </a:p>
        </p:txBody>
      </p:sp>
      <p:sp>
        <p:nvSpPr>
          <p:cNvPr id="64" name="Google Shape;64;p14"/>
          <p:cNvSpPr txBox="1">
            <a:spLocks noGrp="1"/>
          </p:cNvSpPr>
          <p:nvPr>
            <p:ph type="body" idx="1"/>
          </p:nvPr>
        </p:nvSpPr>
        <p:spPr>
          <a:xfrm>
            <a:off x="311700" y="1104600"/>
            <a:ext cx="8520600" cy="3416400"/>
          </a:xfrm>
          <a:prstGeom prst="rect">
            <a:avLst/>
          </a:prstGeom>
        </p:spPr>
        <p:txBody>
          <a:bodyPr spcFirstLastPara="1" wrap="square" lIns="91425" tIns="91425" rIns="91425" bIns="91425" anchor="t" anchorCtr="0">
            <a:normAutofit/>
          </a:bodyPr>
          <a:lstStyle/>
          <a:p>
            <a:pPr marL="457200" lvl="0" indent="0" algn="l" rtl="0">
              <a:spcBef>
                <a:spcPts val="1200"/>
              </a:spcBef>
              <a:spcAft>
                <a:spcPts val="0"/>
              </a:spcAft>
              <a:buNone/>
            </a:pPr>
            <a:endParaRPr/>
          </a:p>
          <a:p>
            <a:pPr marL="457200" lvl="0" indent="-342900" algn="l" rtl="0">
              <a:spcBef>
                <a:spcPts val="1200"/>
              </a:spcBef>
              <a:spcAft>
                <a:spcPts val="0"/>
              </a:spcAft>
              <a:buClr>
                <a:schemeClr val="dk1"/>
              </a:buClr>
              <a:buSzPts val="1800"/>
              <a:buChar char="●"/>
            </a:pPr>
            <a:r>
              <a:rPr lang="en">
                <a:solidFill>
                  <a:schemeClr val="dk1"/>
                </a:solidFill>
              </a:rPr>
              <a:t>AUVs are essential for underwater exploration and monitoring</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Limited by battery capacity → need reliable docking</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Turbid water &amp; poor visibility challenge existing guidance systems</a:t>
            </a:r>
            <a:endParaRPr>
              <a:solidFill>
                <a:schemeClr val="dk1"/>
              </a:solidFill>
            </a:endParaRPr>
          </a:p>
          <a:p>
            <a:pPr marL="0" lvl="0" indent="0" algn="l" rtl="0">
              <a:spcBef>
                <a:spcPts val="1200"/>
              </a:spcBef>
              <a:spcAft>
                <a:spcPts val="1200"/>
              </a:spcAft>
              <a:buNone/>
            </a:pP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15"/>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Research Objectives</a:t>
            </a:r>
            <a:endParaRPr sz="4000">
              <a:solidFill>
                <a:schemeClr val="lt1"/>
              </a:solidFill>
            </a:endParaRPr>
          </a:p>
        </p:txBody>
      </p:sp>
      <p:sp>
        <p:nvSpPr>
          <p:cNvPr id="71" name="Google Shape;71;p15"/>
          <p:cNvSpPr txBox="1">
            <a:spLocks noGrp="1"/>
          </p:cNvSpPr>
          <p:nvPr>
            <p:ph type="body" idx="1"/>
          </p:nvPr>
        </p:nvSpPr>
        <p:spPr>
          <a:xfrm>
            <a:off x="0" y="1104600"/>
            <a:ext cx="9144000" cy="4038900"/>
          </a:xfrm>
          <a:prstGeom prst="rect">
            <a:avLst/>
          </a:prstGeom>
        </p:spPr>
        <p:txBody>
          <a:bodyPr spcFirstLastPara="1" wrap="square" lIns="91425" tIns="91425" rIns="91425" bIns="91425" anchor="t" anchorCtr="0">
            <a:normAutofit lnSpcReduction="10000"/>
          </a:bodyPr>
          <a:lstStyle/>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Develop a deep learning-guided system for very short-range homing (~5 m)</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Use YOLOv5 for real-time detection of illuminated docking station (DS)</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Ensure accurate pose estimation in the XY plane</a:t>
            </a:r>
            <a:endParaRPr>
              <a:solidFill>
                <a:schemeClr val="dk1"/>
              </a:solidFill>
            </a:endParaRPr>
          </a:p>
          <a:p>
            <a:pPr marL="457200" lvl="0" indent="0" algn="l" rtl="0">
              <a:spcBef>
                <a:spcPts val="1200"/>
              </a:spcBef>
              <a:spcAft>
                <a:spcPts val="0"/>
              </a:spcAft>
              <a:buNone/>
            </a:pPr>
            <a:endParaRPr sz="2400" b="1">
              <a:solidFill>
                <a:schemeClr val="dk1"/>
              </a:solidFill>
            </a:endParaRPr>
          </a:p>
          <a:p>
            <a:pPr marL="457200" lvl="0" indent="0" algn="l" rtl="0">
              <a:spcBef>
                <a:spcPts val="1200"/>
              </a:spcBef>
              <a:spcAft>
                <a:spcPts val="0"/>
              </a:spcAft>
              <a:buNone/>
            </a:pPr>
            <a:endParaRPr sz="1300">
              <a:solidFill>
                <a:schemeClr val="dk1"/>
              </a:solidFill>
            </a:endParaRPr>
          </a:p>
          <a:p>
            <a:pPr marL="0" lvl="0" indent="0" algn="l" rtl="0">
              <a:spcBef>
                <a:spcPts val="1200"/>
              </a:spcBef>
              <a:spcAft>
                <a:spcPts val="1200"/>
              </a:spcAft>
              <a:buNone/>
            </a:pPr>
            <a:endParaRPr/>
          </a:p>
        </p:txBody>
      </p:sp>
      <p:pic>
        <p:nvPicPr>
          <p:cNvPr id="72" name="Google Shape;72;p15" title="Screenshot 2025-05-14 at 11.28.37 PM.png"/>
          <p:cNvPicPr preferRelativeResize="0"/>
          <p:nvPr/>
        </p:nvPicPr>
        <p:blipFill>
          <a:blip r:embed="rId3">
            <a:alphaModFix/>
          </a:blip>
          <a:stretch>
            <a:fillRect/>
          </a:stretch>
        </p:blipFill>
        <p:spPr>
          <a:xfrm>
            <a:off x="5765000" y="2917250"/>
            <a:ext cx="3067300" cy="2069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 name="Google Shape;78;p16"/>
          <p:cNvSpPr txBox="1">
            <a:spLocks noGrp="1"/>
          </p:cNvSpPr>
          <p:nvPr>
            <p:ph type="body" idx="1"/>
          </p:nvPr>
        </p:nvSpPr>
        <p:spPr>
          <a:xfrm>
            <a:off x="311700" y="1171525"/>
            <a:ext cx="8520600" cy="3416400"/>
          </a:xfrm>
          <a:prstGeom prst="rect">
            <a:avLst/>
          </a:prstGeom>
        </p:spPr>
        <p:txBody>
          <a:bodyPr spcFirstLastPara="1" wrap="square" lIns="91425" tIns="91425" rIns="91425" bIns="91425" anchor="t" anchorCtr="0">
            <a:normAutofit lnSpcReduction="20000"/>
          </a:bodyPr>
          <a:lstStyle/>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Illuminated circular Docking Station (white LED strip)</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AUV prototype: 4 propellers, HD front camera, Nvidia edge GPU</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Control system: PID controller for motion</a:t>
            </a:r>
            <a:endParaRPr>
              <a:solidFill>
                <a:schemeClr val="dk1"/>
              </a:solidFill>
            </a:endParaRPr>
          </a:p>
          <a:p>
            <a:pPr marL="457200" lvl="0" indent="0" algn="l" rtl="0">
              <a:spcBef>
                <a:spcPts val="1200"/>
              </a:spcBef>
              <a:spcAft>
                <a:spcPts val="0"/>
              </a:spcAft>
              <a:buNone/>
            </a:pPr>
            <a:endParaRPr b="1">
              <a:solidFill>
                <a:schemeClr val="dk1"/>
              </a:solidFill>
            </a:endParaRPr>
          </a:p>
          <a:p>
            <a:pPr marL="457200" lvl="0" indent="0" algn="l" rtl="0">
              <a:spcBef>
                <a:spcPts val="1200"/>
              </a:spcBef>
              <a:spcAft>
                <a:spcPts val="1200"/>
              </a:spcAft>
              <a:buNone/>
            </a:pPr>
            <a:endParaRPr/>
          </a:p>
        </p:txBody>
      </p:sp>
      <p:sp>
        <p:nvSpPr>
          <p:cNvPr id="79" name="Google Shape;79;p16"/>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System Components</a:t>
            </a:r>
            <a:endParaRPr sz="4000">
              <a:solidFill>
                <a:schemeClr val="lt1"/>
              </a:solidFill>
            </a:endParaRPr>
          </a:p>
        </p:txBody>
      </p:sp>
      <p:pic>
        <p:nvPicPr>
          <p:cNvPr id="80" name="Google Shape;80;p16" title="Screenshot 2025-05-14 at 11.29.09 PM.png"/>
          <p:cNvPicPr preferRelativeResize="0"/>
          <p:nvPr/>
        </p:nvPicPr>
        <p:blipFill>
          <a:blip r:embed="rId3">
            <a:alphaModFix/>
          </a:blip>
          <a:stretch>
            <a:fillRect/>
          </a:stretch>
        </p:blipFill>
        <p:spPr>
          <a:xfrm>
            <a:off x="5751175" y="2959000"/>
            <a:ext cx="2693526" cy="1822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 name="Google Shape;86;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YOLOv5 + HSV color filtering used for detection</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Region of Interest (ROI) tracking to reduce false positives</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DeepSORT used for object tracking over time</a:t>
            </a:r>
            <a:endParaRPr>
              <a:solidFill>
                <a:schemeClr val="dk1"/>
              </a:solidFill>
            </a:endParaRPr>
          </a:p>
          <a:p>
            <a:pPr marL="457200" lvl="0" indent="0" algn="l" rtl="0">
              <a:spcBef>
                <a:spcPts val="1200"/>
              </a:spcBef>
              <a:spcAft>
                <a:spcPts val="1200"/>
              </a:spcAft>
              <a:buNone/>
            </a:pPr>
            <a:endParaRPr b="1">
              <a:solidFill>
                <a:schemeClr val="dk1"/>
              </a:solidFill>
            </a:endParaRPr>
          </a:p>
        </p:txBody>
      </p:sp>
      <p:sp>
        <p:nvSpPr>
          <p:cNvPr id="87" name="Google Shape;87;p17"/>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Vision Architecture</a:t>
            </a:r>
            <a:endParaRPr sz="4000">
              <a:solidFill>
                <a:schemeClr val="lt1"/>
              </a:solidFill>
            </a:endParaRPr>
          </a:p>
        </p:txBody>
      </p:sp>
      <p:pic>
        <p:nvPicPr>
          <p:cNvPr id="88" name="Google Shape;88;p17" title="Screenshot 2025-05-14 at 11.32.37 PM.png"/>
          <p:cNvPicPr preferRelativeResize="0"/>
          <p:nvPr/>
        </p:nvPicPr>
        <p:blipFill>
          <a:blip r:embed="rId3">
            <a:alphaModFix/>
          </a:blip>
          <a:stretch>
            <a:fillRect/>
          </a:stretch>
        </p:blipFill>
        <p:spPr>
          <a:xfrm>
            <a:off x="6725156" y="1908625"/>
            <a:ext cx="2286225" cy="25449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8"/>
          <p:cNvSpPr txBox="1">
            <a:spLocks noGrp="1"/>
          </p:cNvSpPr>
          <p:nvPr>
            <p:ph type="body" idx="1"/>
          </p:nvPr>
        </p:nvSpPr>
        <p:spPr>
          <a:xfrm>
            <a:off x="0" y="1104600"/>
            <a:ext cx="9144000" cy="4038900"/>
          </a:xfrm>
          <a:prstGeom prst="rect">
            <a:avLst/>
          </a:prstGeom>
        </p:spPr>
        <p:txBody>
          <a:bodyPr spcFirstLastPara="1" wrap="square" lIns="91425" tIns="91425" rIns="91425" bIns="91425" anchor="t" anchorCtr="0">
            <a:normAutofit/>
          </a:bodyPr>
          <a:lstStyle/>
          <a:p>
            <a:pPr marL="457200" lvl="0" indent="0" algn="l" rtl="0">
              <a:spcBef>
                <a:spcPts val="1200"/>
              </a:spcBef>
              <a:spcAft>
                <a:spcPts val="0"/>
              </a:spcAft>
              <a:buNone/>
            </a:pPr>
            <a:endParaRPr dirty="0">
              <a:solidFill>
                <a:schemeClr val="dk1"/>
              </a:solidFill>
            </a:endParaRPr>
          </a:p>
          <a:p>
            <a:pPr marL="457200" lvl="0" indent="-342900" algn="l" rtl="0">
              <a:spcBef>
                <a:spcPts val="1200"/>
              </a:spcBef>
              <a:spcAft>
                <a:spcPts val="0"/>
              </a:spcAft>
              <a:buClr>
                <a:schemeClr val="dk1"/>
              </a:buClr>
              <a:buSzPts val="1800"/>
              <a:buChar char="●"/>
            </a:pPr>
            <a:r>
              <a:rPr lang="en" dirty="0">
                <a:solidFill>
                  <a:schemeClr val="dk1"/>
                </a:solidFill>
              </a:rPr>
              <a:t>Range calculation: uses image size and camera focal length</a:t>
            </a:r>
            <a:endParaRPr dirty="0">
              <a:solidFill>
                <a:schemeClr val="dk1"/>
              </a:solidFill>
            </a:endParaRPr>
          </a:p>
          <a:p>
            <a:pPr marL="457200" lvl="0" indent="0" algn="l" rtl="0">
              <a:spcBef>
                <a:spcPts val="1200"/>
              </a:spcBef>
              <a:spcAft>
                <a:spcPts val="0"/>
              </a:spcAft>
              <a:buNone/>
            </a:pPr>
            <a:endParaRPr dirty="0">
              <a:solidFill>
                <a:schemeClr val="dk1"/>
              </a:solidFill>
            </a:endParaRPr>
          </a:p>
          <a:p>
            <a:pPr marL="457200" lvl="0" indent="-342900" algn="l" rtl="0">
              <a:spcBef>
                <a:spcPts val="1200"/>
              </a:spcBef>
              <a:spcAft>
                <a:spcPts val="0"/>
              </a:spcAft>
              <a:buClr>
                <a:schemeClr val="dk1"/>
              </a:buClr>
              <a:buSzPts val="1800"/>
              <a:buChar char="●"/>
            </a:pPr>
            <a:r>
              <a:rPr lang="en" dirty="0">
                <a:solidFill>
                  <a:schemeClr val="dk1"/>
                </a:solidFill>
              </a:rPr>
              <a:t>Bearing angle: computed from bounding box center</a:t>
            </a:r>
            <a:endParaRPr dirty="0">
              <a:solidFill>
                <a:schemeClr val="dk1"/>
              </a:solidFill>
            </a:endParaRPr>
          </a:p>
          <a:p>
            <a:pPr marL="0" lvl="0" indent="0" algn="l" rtl="0">
              <a:spcBef>
                <a:spcPts val="1200"/>
              </a:spcBef>
              <a:spcAft>
                <a:spcPts val="0"/>
              </a:spcAft>
              <a:buNone/>
            </a:pPr>
            <a:endParaRPr dirty="0">
              <a:solidFill>
                <a:schemeClr val="dk1"/>
              </a:solidFill>
            </a:endParaRPr>
          </a:p>
          <a:p>
            <a:pPr marL="457200" lvl="0" indent="-342900" algn="l" rtl="0">
              <a:spcBef>
                <a:spcPts val="1200"/>
              </a:spcBef>
              <a:spcAft>
                <a:spcPts val="0"/>
              </a:spcAft>
              <a:buClr>
                <a:schemeClr val="dk1"/>
              </a:buClr>
              <a:buSzPts val="1800"/>
              <a:buChar char="●"/>
            </a:pPr>
            <a:r>
              <a:rPr lang="en" dirty="0">
                <a:solidFill>
                  <a:schemeClr val="dk1"/>
                </a:solidFill>
              </a:rPr>
              <a:t>XY pose relative to DS computed with ROI offsets</a:t>
            </a:r>
            <a:endParaRPr dirty="0">
              <a:solidFill>
                <a:schemeClr val="dk1"/>
              </a:solidFill>
            </a:endParaRPr>
          </a:p>
          <a:p>
            <a:pPr marL="0" lvl="0" indent="0" algn="l" rtl="0">
              <a:spcBef>
                <a:spcPts val="1200"/>
              </a:spcBef>
              <a:spcAft>
                <a:spcPts val="1200"/>
              </a:spcAft>
              <a:buNone/>
            </a:pPr>
            <a:endParaRPr dirty="0">
              <a:solidFill>
                <a:schemeClr val="dk1"/>
              </a:solidFill>
            </a:endParaRPr>
          </a:p>
        </p:txBody>
      </p:sp>
      <p:sp>
        <p:nvSpPr>
          <p:cNvPr id="95" name="Google Shape;95;p18"/>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Pose Estimation</a:t>
            </a:r>
            <a:endParaRPr sz="4000">
              <a:solidFill>
                <a:schemeClr val="lt1"/>
              </a:solidFill>
            </a:endParaRPr>
          </a:p>
        </p:txBody>
      </p:sp>
      <p:pic>
        <p:nvPicPr>
          <p:cNvPr id="96" name="Google Shape;96;p18" title="Screenshot 2025-05-14 at 11.29.47 PM.png"/>
          <p:cNvPicPr preferRelativeResize="0"/>
          <p:nvPr/>
        </p:nvPicPr>
        <p:blipFill>
          <a:blip r:embed="rId3">
            <a:alphaModFix/>
          </a:blip>
          <a:stretch>
            <a:fillRect/>
          </a:stretch>
        </p:blipFill>
        <p:spPr>
          <a:xfrm>
            <a:off x="6884525" y="2950825"/>
            <a:ext cx="1904168" cy="1643425"/>
          </a:xfrm>
          <a:prstGeom prst="rect">
            <a:avLst/>
          </a:prstGeom>
          <a:noFill/>
          <a:ln>
            <a:noFill/>
          </a:ln>
        </p:spPr>
      </p:pic>
      <p:pic>
        <p:nvPicPr>
          <p:cNvPr id="97" name="Google Shape;97;p18" title="Screenshot 2025-05-14 at 11.33.17 PM.png"/>
          <p:cNvPicPr preferRelativeResize="0"/>
          <p:nvPr/>
        </p:nvPicPr>
        <p:blipFill>
          <a:blip r:embed="rId4">
            <a:alphaModFix/>
          </a:blip>
          <a:stretch>
            <a:fillRect/>
          </a:stretch>
        </p:blipFill>
        <p:spPr>
          <a:xfrm>
            <a:off x="6044750" y="2192675"/>
            <a:ext cx="2787550" cy="721386"/>
          </a:xfrm>
          <a:prstGeom prst="rect">
            <a:avLst/>
          </a:prstGeom>
          <a:noFill/>
          <a:ln>
            <a:noFill/>
          </a:ln>
        </p:spPr>
      </p:pic>
      <p:pic>
        <p:nvPicPr>
          <p:cNvPr id="98" name="Google Shape;98;p18" title="Screenshot 2025-05-14 at 11.34.05 PM.png"/>
          <p:cNvPicPr preferRelativeResize="0"/>
          <p:nvPr/>
        </p:nvPicPr>
        <p:blipFill>
          <a:blip r:embed="rId5">
            <a:alphaModFix/>
          </a:blip>
          <a:stretch>
            <a:fillRect/>
          </a:stretch>
        </p:blipFill>
        <p:spPr>
          <a:xfrm>
            <a:off x="3023288" y="3051188"/>
            <a:ext cx="2576824" cy="495937"/>
          </a:xfrm>
          <a:prstGeom prst="rect">
            <a:avLst/>
          </a:prstGeom>
          <a:noFill/>
          <a:ln>
            <a:noFill/>
          </a:ln>
        </p:spPr>
      </p:pic>
      <p:pic>
        <p:nvPicPr>
          <p:cNvPr id="99" name="Google Shape;99;p18" title="Screenshot 2025-05-14 at 11.35.08 PM.png"/>
          <p:cNvPicPr preferRelativeResize="0"/>
          <p:nvPr/>
        </p:nvPicPr>
        <p:blipFill>
          <a:blip r:embed="rId6">
            <a:alphaModFix/>
          </a:blip>
          <a:stretch>
            <a:fillRect/>
          </a:stretch>
        </p:blipFill>
        <p:spPr>
          <a:xfrm>
            <a:off x="4980356" y="4002136"/>
            <a:ext cx="1904169" cy="1104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 name="Google Shape;105;p19"/>
          <p:cNvSpPr txBox="1">
            <a:spLocks noGrp="1"/>
          </p:cNvSpPr>
          <p:nvPr>
            <p:ph type="body" idx="1"/>
          </p:nvPr>
        </p:nvSpPr>
        <p:spPr>
          <a:xfrm>
            <a:off x="311700" y="1219775"/>
            <a:ext cx="85206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1200"/>
              </a:spcBef>
              <a:spcAft>
                <a:spcPts val="0"/>
              </a:spcAft>
              <a:buClr>
                <a:schemeClr val="dk1"/>
              </a:buClr>
              <a:buSzPts val="1800"/>
              <a:buChar char="●"/>
            </a:pPr>
            <a:r>
              <a:rPr lang="en">
                <a:solidFill>
                  <a:schemeClr val="dk1"/>
                </a:solidFill>
              </a:rPr>
              <a:t>Nvidia Maxwell GPU with 128 cores</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4 GB RAM, ARM Cortex-A57</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25 fps HD video streaming from 5 MP front camera</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Limitations: YOLOv7/8 too heavy for current onboard hardware</a:t>
            </a:r>
            <a:endParaRPr sz="1500">
              <a:solidFill>
                <a:schemeClr val="dk1"/>
              </a:solidFill>
            </a:endParaRPr>
          </a:p>
          <a:p>
            <a:pPr marL="0" lvl="0" indent="0" algn="l" rtl="0">
              <a:spcBef>
                <a:spcPts val="1200"/>
              </a:spcBef>
              <a:spcAft>
                <a:spcPts val="1200"/>
              </a:spcAft>
              <a:buNone/>
            </a:pPr>
            <a:endParaRPr/>
          </a:p>
        </p:txBody>
      </p:sp>
      <p:sp>
        <p:nvSpPr>
          <p:cNvPr id="106" name="Google Shape;106;p19"/>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Hardware Architecture</a:t>
            </a:r>
            <a:endParaRPr sz="4000">
              <a:solidFill>
                <a:schemeClr val="lt1"/>
              </a:solidFill>
            </a:endParaRPr>
          </a:p>
        </p:txBody>
      </p:sp>
      <p:pic>
        <p:nvPicPr>
          <p:cNvPr id="107" name="Google Shape;107;p19" title="Screenshot 2025-05-14 at 11.30.41 PM.png"/>
          <p:cNvPicPr preferRelativeResize="0"/>
          <p:nvPr/>
        </p:nvPicPr>
        <p:blipFill>
          <a:blip r:embed="rId3">
            <a:alphaModFix/>
          </a:blip>
          <a:stretch>
            <a:fillRect/>
          </a:stretch>
        </p:blipFill>
        <p:spPr>
          <a:xfrm>
            <a:off x="5165350" y="1104600"/>
            <a:ext cx="3978658" cy="1797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 name="Google Shape;113;p20"/>
          <p:cNvSpPr txBox="1">
            <a:spLocks noGrp="1"/>
          </p:cNvSpPr>
          <p:nvPr>
            <p:ph type="body" idx="1"/>
          </p:nvPr>
        </p:nvSpPr>
        <p:spPr>
          <a:xfrm>
            <a:off x="311700" y="1104600"/>
            <a:ext cx="8520600" cy="3416400"/>
          </a:xfrm>
          <a:prstGeom prst="rect">
            <a:avLst/>
          </a:prstGeom>
        </p:spPr>
        <p:txBody>
          <a:bodyPr spcFirstLastPara="1" wrap="square" lIns="91425" tIns="91425" rIns="91425" bIns="91425" anchor="t" anchorCtr="0">
            <a:normAutofit/>
          </a:bodyPr>
          <a:lstStyle/>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132 images total (clear and turbid water)</a:t>
            </a:r>
            <a:endParaRPr>
              <a:solidFill>
                <a:schemeClr val="dk1"/>
              </a:solidFill>
            </a:endParaRPr>
          </a:p>
          <a:p>
            <a:pPr marL="914400" lvl="1" indent="-342900" algn="l" rtl="0">
              <a:spcBef>
                <a:spcPts val="0"/>
              </a:spcBef>
              <a:spcAft>
                <a:spcPts val="0"/>
              </a:spcAft>
              <a:buClr>
                <a:schemeClr val="dk1"/>
              </a:buClr>
              <a:buSzPts val="1800"/>
              <a:buChar char="○"/>
            </a:pPr>
            <a:r>
              <a:rPr lang="en" sz="1800">
                <a:solidFill>
                  <a:schemeClr val="dk1"/>
                </a:solidFill>
              </a:rPr>
              <a:t>79 train, 40 validation, 13 test</a:t>
            </a:r>
            <a:endParaRPr sz="1800">
              <a:solidFill>
                <a:schemeClr val="dk1"/>
              </a:solidFill>
            </a:endParaRPr>
          </a:p>
          <a:p>
            <a:pPr marL="0" lvl="0" indent="0" algn="l" rtl="0">
              <a:spcBef>
                <a:spcPts val="1200"/>
              </a:spcBef>
              <a:spcAft>
                <a:spcPts val="0"/>
              </a:spcAft>
              <a:buNone/>
            </a:pPr>
            <a:endParaRPr sz="1800">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Mean Average Precision (mAP): 0.95</a:t>
            </a:r>
            <a:endParaRPr>
              <a:solidFill>
                <a:schemeClr val="dk1"/>
              </a:solidFill>
            </a:endParaRPr>
          </a:p>
          <a:p>
            <a:pPr marL="45720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endParaRPr/>
          </a:p>
        </p:txBody>
      </p:sp>
      <p:sp>
        <p:nvSpPr>
          <p:cNvPr id="114" name="Google Shape;114;p20"/>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Dataset and Model Training</a:t>
            </a:r>
            <a:endParaRPr sz="4000">
              <a:solidFill>
                <a:schemeClr val="lt1"/>
              </a:solidFill>
            </a:endParaRPr>
          </a:p>
        </p:txBody>
      </p:sp>
      <p:pic>
        <p:nvPicPr>
          <p:cNvPr id="115" name="Google Shape;115;p20" title="Screenshot 2025-05-14 at 11.31.49 PM.png"/>
          <p:cNvPicPr preferRelativeResize="0"/>
          <p:nvPr/>
        </p:nvPicPr>
        <p:blipFill>
          <a:blip r:embed="rId3">
            <a:alphaModFix/>
          </a:blip>
          <a:stretch>
            <a:fillRect/>
          </a:stretch>
        </p:blipFill>
        <p:spPr>
          <a:xfrm>
            <a:off x="4854600" y="2737850"/>
            <a:ext cx="4373800" cy="2453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 name="Google Shape;121;p21"/>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Performance Results</a:t>
            </a:r>
            <a:endParaRPr sz="4000">
              <a:solidFill>
                <a:schemeClr val="lt1"/>
              </a:solidFill>
            </a:endParaRPr>
          </a:p>
        </p:txBody>
      </p:sp>
      <p:sp>
        <p:nvSpPr>
          <p:cNvPr id="122" name="Google Shape;12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900">
                <a:solidFill>
                  <a:schemeClr val="dk1"/>
                </a:solidFill>
              </a:rPr>
              <a:t>Less - Turbid Water:</a:t>
            </a:r>
            <a:endParaRPr sz="1900">
              <a:solidFill>
                <a:schemeClr val="dk1"/>
              </a:solidFill>
            </a:endParaRPr>
          </a:p>
          <a:p>
            <a:pPr marL="457200" lvl="0" indent="-349250" algn="l" rtl="0">
              <a:spcBef>
                <a:spcPts val="1200"/>
              </a:spcBef>
              <a:spcAft>
                <a:spcPts val="0"/>
              </a:spcAft>
              <a:buClr>
                <a:schemeClr val="dk1"/>
              </a:buClr>
              <a:buSzPts val="1900"/>
              <a:buChar char="●"/>
            </a:pPr>
            <a:r>
              <a:rPr lang="en" sz="1900">
                <a:solidFill>
                  <a:schemeClr val="dk1"/>
                </a:solidFill>
              </a:rPr>
              <a:t>95% detection rate</a:t>
            </a:r>
            <a:endParaRPr sz="1900">
              <a:solidFill>
                <a:schemeClr val="dk1"/>
              </a:solidFill>
            </a:endParaRPr>
          </a:p>
          <a:p>
            <a:pPr marL="457200" lvl="0" indent="-349250" algn="l" rtl="0">
              <a:spcBef>
                <a:spcPts val="0"/>
              </a:spcBef>
              <a:spcAft>
                <a:spcPts val="0"/>
              </a:spcAft>
              <a:buClr>
                <a:schemeClr val="dk1"/>
              </a:buClr>
              <a:buSzPts val="1900"/>
              <a:buChar char="●"/>
            </a:pPr>
            <a:r>
              <a:rPr lang="en" sz="1900">
                <a:solidFill>
                  <a:schemeClr val="dk1"/>
                </a:solidFill>
              </a:rPr>
              <a:t>5 m detection range</a:t>
            </a:r>
            <a:endParaRPr sz="1900">
              <a:solidFill>
                <a:schemeClr val="dk1"/>
              </a:solidFill>
            </a:endParaRPr>
          </a:p>
          <a:p>
            <a:pPr marL="457200" lvl="0" indent="-349250" algn="l" rtl="0">
              <a:spcBef>
                <a:spcPts val="0"/>
              </a:spcBef>
              <a:spcAft>
                <a:spcPts val="0"/>
              </a:spcAft>
              <a:buClr>
                <a:schemeClr val="dk1"/>
              </a:buClr>
              <a:buSzPts val="1900"/>
              <a:buChar char="●"/>
            </a:pPr>
            <a:r>
              <a:rPr lang="en" sz="1900">
                <a:solidFill>
                  <a:schemeClr val="dk1"/>
                </a:solidFill>
              </a:rPr>
              <a:t>5% position error</a:t>
            </a:r>
            <a:endParaRPr sz="1900">
              <a:solidFill>
                <a:schemeClr val="dk1"/>
              </a:solidFill>
            </a:endParaRPr>
          </a:p>
          <a:p>
            <a:pPr marL="0" lvl="0" indent="0" algn="l" rtl="0">
              <a:spcBef>
                <a:spcPts val="1200"/>
              </a:spcBef>
              <a:spcAft>
                <a:spcPts val="0"/>
              </a:spcAft>
              <a:buNone/>
            </a:pPr>
            <a:r>
              <a:rPr lang="en" sz="1900">
                <a:solidFill>
                  <a:schemeClr val="dk1"/>
                </a:solidFill>
              </a:rPr>
              <a:t>High-turbid water:</a:t>
            </a:r>
            <a:endParaRPr sz="1900">
              <a:solidFill>
                <a:schemeClr val="dk1"/>
              </a:solidFill>
            </a:endParaRPr>
          </a:p>
          <a:p>
            <a:pPr marL="457200" lvl="0" indent="-349250" algn="l" rtl="0">
              <a:spcBef>
                <a:spcPts val="1200"/>
              </a:spcBef>
              <a:spcAft>
                <a:spcPts val="0"/>
              </a:spcAft>
              <a:buClr>
                <a:schemeClr val="dk1"/>
              </a:buClr>
              <a:buSzPts val="1900"/>
              <a:buChar char="●"/>
            </a:pPr>
            <a:r>
              <a:rPr lang="en" sz="1900">
                <a:solidFill>
                  <a:schemeClr val="dk1"/>
                </a:solidFill>
              </a:rPr>
              <a:t>60–70% detection rate</a:t>
            </a:r>
            <a:endParaRPr sz="1900">
              <a:solidFill>
                <a:schemeClr val="dk1"/>
              </a:solidFill>
            </a:endParaRPr>
          </a:p>
          <a:p>
            <a:pPr marL="457200" lvl="0" indent="-349250" algn="l" rtl="0">
              <a:spcBef>
                <a:spcPts val="0"/>
              </a:spcBef>
              <a:spcAft>
                <a:spcPts val="0"/>
              </a:spcAft>
              <a:buClr>
                <a:schemeClr val="dk1"/>
              </a:buClr>
              <a:buSzPts val="1900"/>
              <a:buChar char="●"/>
            </a:pPr>
            <a:r>
              <a:rPr lang="en" sz="1900">
                <a:solidFill>
                  <a:schemeClr val="dk1"/>
                </a:solidFill>
              </a:rPr>
              <a:t>1 m range</a:t>
            </a:r>
            <a:endParaRPr sz="1900">
              <a:solidFill>
                <a:schemeClr val="dk1"/>
              </a:solidFill>
            </a:endParaRPr>
          </a:p>
          <a:p>
            <a:pPr marL="457200" lvl="0" indent="-349250" algn="l" rtl="0">
              <a:spcBef>
                <a:spcPts val="0"/>
              </a:spcBef>
              <a:spcAft>
                <a:spcPts val="0"/>
              </a:spcAft>
              <a:buClr>
                <a:schemeClr val="dk1"/>
              </a:buClr>
              <a:buSzPts val="1900"/>
              <a:buChar char="●"/>
            </a:pPr>
            <a:r>
              <a:rPr lang="en" sz="1900">
                <a:solidFill>
                  <a:schemeClr val="dk1"/>
                </a:solidFill>
              </a:rPr>
              <a:t>Up to 25% error</a:t>
            </a:r>
            <a:endParaRPr sz="1100" b="1">
              <a:solidFill>
                <a:schemeClr val="dk1"/>
              </a:solidFill>
            </a:endParaRPr>
          </a:p>
        </p:txBody>
      </p:sp>
      <p:pic>
        <p:nvPicPr>
          <p:cNvPr id="123" name="Google Shape;123;p21" title="Screenshot 2025-05-14 at 11.36.21 PM.png"/>
          <p:cNvPicPr preferRelativeResize="0"/>
          <p:nvPr/>
        </p:nvPicPr>
        <p:blipFill>
          <a:blip r:embed="rId3">
            <a:alphaModFix/>
          </a:blip>
          <a:stretch>
            <a:fillRect/>
          </a:stretch>
        </p:blipFill>
        <p:spPr>
          <a:xfrm>
            <a:off x="3641175" y="1104600"/>
            <a:ext cx="4749244" cy="1690625"/>
          </a:xfrm>
          <a:prstGeom prst="rect">
            <a:avLst/>
          </a:prstGeom>
          <a:noFill/>
          <a:ln>
            <a:noFill/>
          </a:ln>
        </p:spPr>
      </p:pic>
      <p:pic>
        <p:nvPicPr>
          <p:cNvPr id="124" name="Google Shape;124;p21" title="Screenshot 2025-05-14 at 11.36.35 PM.png"/>
          <p:cNvPicPr preferRelativeResize="0"/>
          <p:nvPr/>
        </p:nvPicPr>
        <p:blipFill>
          <a:blip r:embed="rId4">
            <a:alphaModFix/>
          </a:blip>
          <a:stretch>
            <a:fillRect/>
          </a:stretch>
        </p:blipFill>
        <p:spPr>
          <a:xfrm>
            <a:off x="3641175" y="2795225"/>
            <a:ext cx="4749250" cy="24480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 name="Google Shape;13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0" algn="l" rtl="0">
              <a:spcBef>
                <a:spcPts val="1200"/>
              </a:spcBef>
              <a:spcAft>
                <a:spcPts val="0"/>
              </a:spcAft>
              <a:buNone/>
            </a:pPr>
            <a:endParaRPr sz="1900">
              <a:solidFill>
                <a:schemeClr val="dk1"/>
              </a:solidFill>
            </a:endParaRPr>
          </a:p>
          <a:p>
            <a:pPr marL="457200" lvl="0" indent="-340201" algn="l" rtl="0">
              <a:spcBef>
                <a:spcPts val="1200"/>
              </a:spcBef>
              <a:spcAft>
                <a:spcPts val="0"/>
              </a:spcAft>
              <a:buClr>
                <a:schemeClr val="dk1"/>
              </a:buClr>
              <a:buSzPct val="100000"/>
              <a:buChar char="●"/>
            </a:pPr>
            <a:r>
              <a:rPr lang="en" sz="1900">
                <a:solidFill>
                  <a:schemeClr val="dk1"/>
                </a:solidFill>
              </a:rPr>
              <a:t>Reliable vision-based docking possible with YOLOv5</a:t>
            </a:r>
            <a:endParaRPr sz="1900">
              <a:solidFill>
                <a:schemeClr val="dk1"/>
              </a:solidFill>
            </a:endParaRPr>
          </a:p>
          <a:p>
            <a:pPr marL="457200" lvl="0" indent="0" algn="l" rtl="0">
              <a:spcBef>
                <a:spcPts val="1200"/>
              </a:spcBef>
              <a:spcAft>
                <a:spcPts val="0"/>
              </a:spcAft>
              <a:buNone/>
            </a:pPr>
            <a:endParaRPr sz="1900">
              <a:solidFill>
                <a:schemeClr val="dk1"/>
              </a:solidFill>
            </a:endParaRPr>
          </a:p>
          <a:p>
            <a:pPr marL="457200" lvl="0" indent="-340201" algn="l" rtl="0">
              <a:spcBef>
                <a:spcPts val="1200"/>
              </a:spcBef>
              <a:spcAft>
                <a:spcPts val="0"/>
              </a:spcAft>
              <a:buClr>
                <a:schemeClr val="dk1"/>
              </a:buClr>
              <a:buSzPct val="100000"/>
              <a:buChar char="●"/>
            </a:pPr>
            <a:r>
              <a:rPr lang="en" sz="1900">
                <a:solidFill>
                  <a:schemeClr val="dk1"/>
                </a:solidFill>
              </a:rPr>
              <a:t>Embedded implementation is real-time and accurate</a:t>
            </a:r>
            <a:endParaRPr sz="1900">
              <a:solidFill>
                <a:schemeClr val="dk1"/>
              </a:solidFill>
            </a:endParaRPr>
          </a:p>
          <a:p>
            <a:pPr marL="457200" lvl="0" indent="0" algn="l" rtl="0">
              <a:spcBef>
                <a:spcPts val="1200"/>
              </a:spcBef>
              <a:spcAft>
                <a:spcPts val="0"/>
              </a:spcAft>
              <a:buNone/>
            </a:pPr>
            <a:endParaRPr sz="1900">
              <a:solidFill>
                <a:schemeClr val="dk1"/>
              </a:solidFill>
            </a:endParaRPr>
          </a:p>
          <a:p>
            <a:pPr marL="457200" lvl="0" indent="-340201" algn="l" rtl="0">
              <a:spcBef>
                <a:spcPts val="1200"/>
              </a:spcBef>
              <a:spcAft>
                <a:spcPts val="0"/>
              </a:spcAft>
              <a:buClr>
                <a:schemeClr val="dk1"/>
              </a:buClr>
              <a:buSzPct val="100000"/>
              <a:buChar char="●"/>
            </a:pPr>
            <a:r>
              <a:rPr lang="en" sz="1900">
                <a:solidFill>
                  <a:schemeClr val="dk1"/>
                </a:solidFill>
              </a:rPr>
              <a:t>Future: lighter, faster models (e.g., YOLOv8 Tiny)</a:t>
            </a:r>
            <a:endParaRPr sz="1900">
              <a:solidFill>
                <a:schemeClr val="dk1"/>
              </a:solidFill>
            </a:endParaRPr>
          </a:p>
          <a:p>
            <a:pPr marL="0" lvl="0" indent="0" algn="l" rtl="0">
              <a:spcBef>
                <a:spcPts val="1200"/>
              </a:spcBef>
              <a:spcAft>
                <a:spcPts val="0"/>
              </a:spcAft>
              <a:buNone/>
            </a:pPr>
            <a:endParaRPr sz="1500" b="1">
              <a:solidFill>
                <a:schemeClr val="dk1"/>
              </a:solidFill>
            </a:endParaRPr>
          </a:p>
          <a:p>
            <a:pPr marL="0" lvl="0" indent="0" algn="l" rtl="0">
              <a:spcBef>
                <a:spcPts val="1200"/>
              </a:spcBef>
              <a:spcAft>
                <a:spcPts val="0"/>
              </a:spcAft>
              <a:buClr>
                <a:schemeClr val="dk1"/>
              </a:buClr>
              <a:buSzPct val="100000"/>
              <a:buFont typeface="Arial"/>
              <a:buNone/>
            </a:pPr>
            <a:endParaRPr sz="1100" b="1">
              <a:solidFill>
                <a:schemeClr val="dk1"/>
              </a:solidFill>
            </a:endParaRPr>
          </a:p>
          <a:p>
            <a:pPr marL="0" lvl="0" indent="0" algn="l" rtl="0">
              <a:spcBef>
                <a:spcPts val="0"/>
              </a:spcBef>
              <a:spcAft>
                <a:spcPts val="1200"/>
              </a:spcAft>
              <a:buNone/>
            </a:pPr>
            <a:endParaRPr/>
          </a:p>
        </p:txBody>
      </p:sp>
      <p:sp>
        <p:nvSpPr>
          <p:cNvPr id="131" name="Google Shape;131;p22"/>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Conclusive and Future Work</a:t>
            </a:r>
            <a:endParaRPr sz="40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p:nvPr/>
        </p:nvSpPr>
        <p:spPr>
          <a:xfrm>
            <a:off x="0" y="0"/>
            <a:ext cx="9144000" cy="1104600"/>
          </a:xfrm>
          <a:prstGeom prst="rect">
            <a:avLst/>
          </a:prstGeom>
          <a:solidFill>
            <a:srgbClr val="73141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 name="Google Shape;137;p23"/>
          <p:cNvSpPr txBox="1">
            <a:spLocks noGrp="1"/>
          </p:cNvSpPr>
          <p:nvPr>
            <p:ph type="title"/>
          </p:nvPr>
        </p:nvSpPr>
        <p:spPr>
          <a:xfrm>
            <a:off x="311700" y="2659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solidFill>
                  <a:schemeClr val="lt1"/>
                </a:solidFill>
              </a:rPr>
              <a:t>Discussion Questions</a:t>
            </a:r>
            <a:endParaRPr sz="4000">
              <a:solidFill>
                <a:schemeClr val="lt1"/>
              </a:solidFill>
            </a:endParaRPr>
          </a:p>
        </p:txBody>
      </p:sp>
      <p:sp>
        <p:nvSpPr>
          <p:cNvPr id="138" name="Google Shape;138;p23"/>
          <p:cNvSpPr txBox="1"/>
          <p:nvPr/>
        </p:nvSpPr>
        <p:spPr>
          <a:xfrm>
            <a:off x="12050" y="1121300"/>
            <a:ext cx="9144000" cy="40221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0"/>
              </a:spcAft>
              <a:buNone/>
            </a:pPr>
            <a:endParaRPr sz="1800">
              <a:solidFill>
                <a:schemeClr val="dk1"/>
              </a:solidFill>
            </a:endParaRPr>
          </a:p>
          <a:p>
            <a:pPr marL="457200" lvl="0" indent="-342900" algn="l" rtl="0">
              <a:lnSpc>
                <a:spcPct val="115000"/>
              </a:lnSpc>
              <a:spcBef>
                <a:spcPts val="1200"/>
              </a:spcBef>
              <a:spcAft>
                <a:spcPts val="0"/>
              </a:spcAft>
              <a:buClr>
                <a:schemeClr val="dk1"/>
              </a:buClr>
              <a:buSzPts val="1800"/>
              <a:buChar char="●"/>
            </a:pPr>
            <a:r>
              <a:rPr lang="en" sz="1800">
                <a:solidFill>
                  <a:schemeClr val="dk1"/>
                </a:solidFill>
              </a:rPr>
              <a:t>How could we improve the system’s reliability in high-turbidity water where vision guidance struggles?</a:t>
            </a:r>
            <a:endParaRPr sz="1800">
              <a:solidFill>
                <a:schemeClr val="dk1"/>
              </a:solidFill>
            </a:endParaRPr>
          </a:p>
          <a:p>
            <a:pPr marL="457200" lvl="0" indent="0" algn="l" rtl="0">
              <a:lnSpc>
                <a:spcPct val="115000"/>
              </a:lnSpc>
              <a:spcBef>
                <a:spcPts val="1200"/>
              </a:spcBef>
              <a:spcAft>
                <a:spcPts val="0"/>
              </a:spcAft>
              <a:buNone/>
            </a:pPr>
            <a:endParaRPr sz="1800">
              <a:solidFill>
                <a:schemeClr val="dk1"/>
              </a:solidFill>
            </a:endParaRPr>
          </a:p>
          <a:p>
            <a:pPr marL="457200" lvl="0" indent="0" algn="l" rtl="0">
              <a:lnSpc>
                <a:spcPct val="115000"/>
              </a:lnSpc>
              <a:spcBef>
                <a:spcPts val="1200"/>
              </a:spcBef>
              <a:spcAft>
                <a:spcPts val="0"/>
              </a:spcAft>
              <a:buNone/>
            </a:pPr>
            <a:endParaRPr sz="1800">
              <a:solidFill>
                <a:schemeClr val="dk1"/>
              </a:solidFill>
            </a:endParaRPr>
          </a:p>
          <a:p>
            <a:pPr marL="457200" lvl="0" indent="-342900" algn="l" rtl="0">
              <a:lnSpc>
                <a:spcPct val="115000"/>
              </a:lnSpc>
              <a:spcBef>
                <a:spcPts val="1200"/>
              </a:spcBef>
              <a:spcAft>
                <a:spcPts val="0"/>
              </a:spcAft>
              <a:buClr>
                <a:schemeClr val="dk1"/>
              </a:buClr>
              <a:buSzPts val="1800"/>
              <a:buChar char="●"/>
            </a:pPr>
            <a:r>
              <a:rPr lang="en" sz="1800">
                <a:solidFill>
                  <a:schemeClr val="dk1"/>
                </a:solidFill>
              </a:rPr>
              <a:t>If this system works well in 2D (XY plane), how might we adapt it for full 3D pose estimation in more complex underwater environments?</a:t>
            </a:r>
            <a:endParaRPr sz="18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776</Words>
  <Application>Microsoft Macintosh PowerPoint</Application>
  <PresentationFormat>On-screen Show (16:9)</PresentationFormat>
  <Paragraphs>89</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Simple Light</vt:lpstr>
      <vt:lpstr>Design and Development of Deep Learning-Aided Vision Guidance System for AUV Homing Applications </vt:lpstr>
      <vt:lpstr>Why This Matters </vt:lpstr>
      <vt:lpstr>Research Objectives</vt:lpstr>
      <vt:lpstr>System Components</vt:lpstr>
      <vt:lpstr>Vision Architecture</vt:lpstr>
      <vt:lpstr>Pose Estimation</vt:lpstr>
      <vt:lpstr>Hardware Architecture</vt:lpstr>
      <vt:lpstr>Dataset and Model Training</vt:lpstr>
      <vt:lpstr>Performance Results</vt:lpstr>
      <vt:lpstr>Conclusive and Future Work</vt:lpstr>
      <vt:lpstr>Discussion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Bill Turbadrakh</cp:lastModifiedBy>
  <cp:revision>1</cp:revision>
  <dcterms:modified xsi:type="dcterms:W3CDTF">2025-05-15T06:02:25Z</dcterms:modified>
</cp:coreProperties>
</file>